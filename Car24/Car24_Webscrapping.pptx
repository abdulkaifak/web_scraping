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3.jpg" ContentType="image/jpeg"/>
  <Override PartName="/ppt/media/image18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93" r:id="rId5"/>
    <p:sldId id="294" r:id="rId6"/>
    <p:sldId id="295" r:id="rId7"/>
    <p:sldId id="296" r:id="rId8"/>
    <p:sldId id="286" r:id="rId9"/>
    <p:sldId id="285" r:id="rId10"/>
    <p:sldId id="287" r:id="rId11"/>
    <p:sldId id="291" r:id="rId12"/>
    <p:sldId id="290" r:id="rId13"/>
    <p:sldId id="289" r:id="rId14"/>
    <p:sldId id="288" r:id="rId15"/>
    <p:sldId id="284" r:id="rId16"/>
    <p:sldId id="282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301" y="2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9747" y="641349"/>
            <a:ext cx="10749280" cy="8416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63175" y="6283803"/>
            <a:ext cx="2949299" cy="4465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7337" y="261937"/>
            <a:ext cx="11388089" cy="11111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59192" y="1731581"/>
            <a:ext cx="10492105" cy="3691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6397" y="-76200"/>
            <a:ext cx="12191999" cy="60912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7200" y="4191000"/>
            <a:ext cx="4419600" cy="3055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0"/>
              </a:spcBef>
            </a:pPr>
            <a:r>
              <a:rPr lang="en-US" sz="2400" b="1" spc="-10" dirty="0">
                <a:latin typeface="Times New Roman"/>
                <a:cs typeface="Times New Roman"/>
              </a:rPr>
              <a:t>By,</a:t>
            </a:r>
          </a:p>
          <a:p>
            <a:pPr marL="12700" marR="5080">
              <a:lnSpc>
                <a:spcPct val="100400"/>
              </a:lnSpc>
              <a:spcBef>
                <a:spcPts val="90"/>
              </a:spcBef>
            </a:pPr>
            <a:r>
              <a:rPr lang="en-US" sz="2400" b="1" spc="-10" dirty="0">
                <a:latin typeface="Times New Roman"/>
                <a:cs typeface="Times New Roman"/>
              </a:rPr>
              <a:t>      Abdul Kaif</a:t>
            </a:r>
          </a:p>
          <a:p>
            <a:pPr marL="12700" marR="5080">
              <a:lnSpc>
                <a:spcPct val="100400"/>
              </a:lnSpc>
              <a:spcBef>
                <a:spcPts val="90"/>
              </a:spcBef>
            </a:pPr>
            <a:r>
              <a:rPr lang="en-US" sz="2400" b="1" spc="-10" dirty="0">
                <a:latin typeface="Times New Roman"/>
                <a:cs typeface="Times New Roman"/>
              </a:rPr>
              <a:t>      Nishath</a:t>
            </a:r>
          </a:p>
          <a:p>
            <a:pPr marL="12700" marR="5080">
              <a:lnSpc>
                <a:spcPct val="100400"/>
              </a:lnSpc>
              <a:spcBef>
                <a:spcPts val="90"/>
              </a:spcBef>
            </a:pPr>
            <a:r>
              <a:rPr lang="en-US" sz="2400" b="1" spc="-10" dirty="0">
                <a:latin typeface="Times New Roman"/>
                <a:cs typeface="Times New Roman"/>
              </a:rPr>
              <a:t>      Yashwanth</a:t>
            </a:r>
          </a:p>
          <a:p>
            <a:pPr marL="12700" marR="5080">
              <a:lnSpc>
                <a:spcPct val="100400"/>
              </a:lnSpc>
              <a:spcBef>
                <a:spcPts val="90"/>
              </a:spcBef>
            </a:pPr>
            <a:r>
              <a:rPr lang="en-US" sz="2400" b="1" spc="-10" dirty="0">
                <a:latin typeface="Times New Roman"/>
                <a:cs typeface="Times New Roman"/>
              </a:rPr>
              <a:t>From,</a:t>
            </a:r>
          </a:p>
          <a:p>
            <a:pPr marL="12700" marR="5080">
              <a:lnSpc>
                <a:spcPct val="100400"/>
              </a:lnSpc>
              <a:spcBef>
                <a:spcPts val="90"/>
              </a:spcBef>
            </a:pPr>
            <a:r>
              <a:rPr lang="en-US" sz="2400" b="1" spc="-10" dirty="0">
                <a:latin typeface="Times New Roman"/>
                <a:cs typeface="Times New Roman"/>
              </a:rPr>
              <a:t>Batch no.425</a:t>
            </a:r>
          </a:p>
          <a:p>
            <a:pPr marL="12700" marR="5080">
              <a:lnSpc>
                <a:spcPct val="100400"/>
              </a:lnSpc>
              <a:spcBef>
                <a:spcPts val="90"/>
              </a:spcBef>
            </a:pPr>
            <a:endParaRPr lang="en-US" sz="2400" b="1" spc="-10" dirty="0">
              <a:latin typeface="Times New Roman"/>
              <a:cs typeface="Times New Roman"/>
            </a:endParaRPr>
          </a:p>
          <a:p>
            <a:pPr marL="12700" marR="5080">
              <a:lnSpc>
                <a:spcPct val="100400"/>
              </a:lnSpc>
              <a:spcBef>
                <a:spcPts val="90"/>
              </a:spcBef>
            </a:pP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3A32BE-8E73-9E5C-27A2-6BC3432C92EC}"/>
              </a:ext>
            </a:extLst>
          </p:cNvPr>
          <p:cNvSpPr txBox="1"/>
          <p:nvPr/>
        </p:nvSpPr>
        <p:spPr>
          <a:xfrm>
            <a:off x="2209800" y="3124200"/>
            <a:ext cx="7851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Car24 Data Analysis Using Web Scraping and EDA</a:t>
            </a:r>
            <a:endParaRPr lang="en-IN" sz="2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337" y="261937"/>
            <a:ext cx="11388089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dirty="0">
                <a:solidFill>
                  <a:srgbClr val="C00000"/>
                </a:solidFill>
                <a:latin typeface="Calibri"/>
                <a:cs typeface="Calibri"/>
              </a:rPr>
              <a:t>Agenda</a:t>
            </a:r>
            <a:r>
              <a:rPr sz="4400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C00000"/>
                </a:solidFill>
                <a:latin typeface="Calibri"/>
                <a:cs typeface="Calibri"/>
              </a:rPr>
              <a:t>(This</a:t>
            </a:r>
            <a:r>
              <a:rPr sz="44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C00000"/>
                </a:solidFill>
                <a:latin typeface="Calibri"/>
                <a:cs typeface="Calibri"/>
              </a:rPr>
              <a:t>should</a:t>
            </a:r>
            <a:r>
              <a:rPr sz="44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C00000"/>
                </a:solidFill>
                <a:latin typeface="Calibri"/>
                <a:cs typeface="Calibri"/>
              </a:rPr>
              <a:t>be</a:t>
            </a:r>
            <a:r>
              <a:rPr sz="4400" spc="-1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44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C00000"/>
                </a:solidFill>
                <a:latin typeface="Calibri"/>
                <a:cs typeface="Calibri"/>
              </a:rPr>
              <a:t>PPT</a:t>
            </a:r>
            <a:r>
              <a:rPr sz="44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400" spc="-10" dirty="0">
                <a:solidFill>
                  <a:srgbClr val="C00000"/>
                </a:solidFill>
                <a:latin typeface="Calibri"/>
                <a:cs typeface="Calibri"/>
              </a:rPr>
              <a:t>flow)</a:t>
            </a:r>
            <a:endParaRPr sz="4400" dirty="0">
              <a:solidFill>
                <a:srgbClr val="C00000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9622" y="1503362"/>
            <a:ext cx="9098915" cy="368883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444500" indent="-431800">
              <a:lnSpc>
                <a:spcPct val="100000"/>
              </a:lnSpc>
              <a:spcBef>
                <a:spcPts val="825"/>
              </a:spcBef>
              <a:buFont typeface="Wingdings" panose="05000000000000000000" pitchFamily="2" charset="2"/>
              <a:buChar char="v"/>
              <a:tabLst>
                <a:tab pos="444500" algn="l"/>
              </a:tabLst>
            </a:pPr>
            <a:r>
              <a:rPr sz="2400" b="1" dirty="0">
                <a:latin typeface="Calibri"/>
                <a:cs typeface="Calibri"/>
              </a:rPr>
              <a:t>Objective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Project</a:t>
            </a:r>
            <a:endParaRPr sz="2400" b="1" dirty="0">
              <a:latin typeface="Calibri"/>
              <a:cs typeface="Calibri"/>
            </a:endParaRPr>
          </a:p>
          <a:p>
            <a:pPr marL="444500" indent="-431800">
              <a:lnSpc>
                <a:spcPct val="100000"/>
              </a:lnSpc>
              <a:spcBef>
                <a:spcPts val="725"/>
              </a:spcBef>
              <a:buFont typeface="Wingdings" panose="05000000000000000000" pitchFamily="2" charset="2"/>
              <a:buChar char="v"/>
              <a:tabLst>
                <a:tab pos="444500" algn="l"/>
              </a:tabLst>
            </a:pPr>
            <a:r>
              <a:rPr lang="en-IN" sz="2400" b="1" dirty="0">
                <a:latin typeface="Calibri"/>
                <a:cs typeface="Calibri"/>
              </a:rPr>
              <a:t>Data scraping using web scraping</a:t>
            </a:r>
          </a:p>
          <a:p>
            <a:pPr marL="444500" indent="-431800">
              <a:lnSpc>
                <a:spcPct val="100000"/>
              </a:lnSpc>
              <a:spcBef>
                <a:spcPts val="725"/>
              </a:spcBef>
              <a:buFont typeface="Wingdings" panose="05000000000000000000" pitchFamily="2" charset="2"/>
              <a:buChar char="v"/>
              <a:tabLst>
                <a:tab pos="444500" algn="l"/>
              </a:tabLst>
            </a:pPr>
            <a:r>
              <a:rPr lang="en-IN" sz="2400" b="1" dirty="0">
                <a:latin typeface="Calibri"/>
                <a:cs typeface="Calibri"/>
              </a:rPr>
              <a:t>Data Preprocessing</a:t>
            </a:r>
            <a:endParaRPr sz="2400" dirty="0">
              <a:latin typeface="Calibri"/>
              <a:cs typeface="Calibri"/>
            </a:endParaRPr>
          </a:p>
          <a:p>
            <a:pPr marL="444500" indent="-431800">
              <a:lnSpc>
                <a:spcPct val="100000"/>
              </a:lnSpc>
              <a:spcBef>
                <a:spcPts val="725"/>
              </a:spcBef>
              <a:buFont typeface="Wingdings" panose="05000000000000000000" pitchFamily="2" charset="2"/>
              <a:buChar char="v"/>
              <a:tabLst>
                <a:tab pos="444500" algn="l"/>
              </a:tabLst>
            </a:pPr>
            <a:r>
              <a:rPr lang="en-IN" sz="2400" b="1" dirty="0">
                <a:latin typeface="Calibri"/>
                <a:cs typeface="Calibri"/>
              </a:rPr>
              <a:t>Basic Checks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Wingdings" panose="05000000000000000000" pitchFamily="2" charset="2"/>
              <a:buChar char="v"/>
              <a:tabLst>
                <a:tab pos="444500" algn="l"/>
              </a:tabLst>
            </a:pPr>
            <a:r>
              <a:rPr lang="en-US" sz="2400" b="1" dirty="0">
                <a:latin typeface="Calibri"/>
                <a:cs typeface="Calibri"/>
              </a:rPr>
              <a:t> Data Visualization</a:t>
            </a:r>
            <a:endParaRPr sz="2400" dirty="0">
              <a:latin typeface="Calibri"/>
              <a:cs typeface="Calibri"/>
            </a:endParaRPr>
          </a:p>
          <a:p>
            <a:pPr marL="444500" indent="-431800">
              <a:lnSpc>
                <a:spcPct val="100000"/>
              </a:lnSpc>
              <a:spcBef>
                <a:spcPts val="725"/>
              </a:spcBef>
              <a:buFont typeface="Wingdings" panose="05000000000000000000" pitchFamily="2" charset="2"/>
              <a:buChar char="v"/>
              <a:tabLst>
                <a:tab pos="444500" algn="l"/>
              </a:tabLst>
            </a:pPr>
            <a:r>
              <a:rPr sz="2400" b="1" dirty="0">
                <a:latin typeface="Calibri"/>
                <a:cs typeface="Calibri"/>
              </a:rPr>
              <a:t>Conclusion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(Key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finding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overall</a:t>
            </a:r>
            <a:r>
              <a:rPr lang="en-IN" sz="2400" b="1" spc="-10" dirty="0">
                <a:latin typeface="Calibri"/>
                <a:cs typeface="Calibri"/>
              </a:rPr>
              <a:t>)</a:t>
            </a:r>
            <a:endParaRPr lang="en-IN"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  <a:tabLst>
                <a:tab pos="444500" algn="l"/>
              </a:tabLst>
            </a:pPr>
            <a:endParaRPr lang="en-IN"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  <a:tabLst>
                <a:tab pos="444500" algn="l"/>
              </a:tabLst>
            </a:pPr>
            <a:endParaRPr sz="2400" dirty="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686913-6AE4-EEA2-12D7-943E8D823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12" b="3819"/>
          <a:stretch>
            <a:fillRect/>
          </a:stretch>
        </p:blipFill>
        <p:spPr>
          <a:xfrm>
            <a:off x="8327720" y="2199084"/>
            <a:ext cx="3064826" cy="24598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762000" y="228600"/>
            <a:ext cx="8458201" cy="797974"/>
          </a:xfrm>
          <a:prstGeom prst="rect">
            <a:avLst/>
          </a:prstGeom>
        </p:spPr>
        <p:txBody>
          <a:bodyPr vert="horz" wrap="square" lIns="0" tIns="302577" rIns="0" bIns="0" rtlCol="0">
            <a:spAutoFit/>
          </a:bodyPr>
          <a:lstStyle/>
          <a:p>
            <a:pPr marL="1295400" algn="l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Objective</a:t>
            </a:r>
            <a:r>
              <a:rPr sz="3200" spc="-50" dirty="0"/>
              <a:t> </a:t>
            </a:r>
            <a:r>
              <a:rPr sz="3200" dirty="0"/>
              <a:t>of</a:t>
            </a:r>
            <a:r>
              <a:rPr sz="3200" spc="-5" dirty="0"/>
              <a:t> </a:t>
            </a:r>
            <a:r>
              <a:rPr sz="3200" dirty="0"/>
              <a:t>the</a:t>
            </a:r>
            <a:r>
              <a:rPr sz="3200" spc="-30" dirty="0"/>
              <a:t> </a:t>
            </a:r>
            <a:r>
              <a:rPr sz="3200" spc="-10" dirty="0"/>
              <a:t>Project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1295400"/>
            <a:ext cx="11228705" cy="3104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US" sz="2000" dirty="0"/>
              <a:t>The primary objective of this project is to perform Car24 data analysis by leveraging Python-based tools and libraries. The workflow includes: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Web Scraping: Utilize the </a:t>
            </a:r>
            <a:r>
              <a:rPr lang="en-US" sz="2000" dirty="0" err="1"/>
              <a:t>BeautifulSoup</a:t>
            </a:r>
            <a:r>
              <a:rPr lang="en-US" sz="2000" dirty="0"/>
              <a:t> library and re (regular expressions) to extract and structure raw data from the Car24 website.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Data Cleaning &amp; Transformation: Apply NumPy and Pandas to clean, format, and preprocess the dataset, ensuring consistency and readiness for analysis.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Exploratory Data Analysis (EDA): Use Matplotlib and Seaborn to visualize key patterns, trends, and relationships within the dataset, enabling actionable insights.</a:t>
            </a:r>
          </a:p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Ø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A67923-761F-93E1-E35B-2AD9376D7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591800" cy="45148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F2E836-03B4-14FC-D44C-6DE1D74879BA}"/>
              </a:ext>
            </a:extLst>
          </p:cNvPr>
          <p:cNvSpPr txBox="1"/>
          <p:nvPr/>
        </p:nvSpPr>
        <p:spPr>
          <a:xfrm>
            <a:off x="803349" y="457200"/>
            <a:ext cx="681665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Data scraping using web scraping</a:t>
            </a:r>
            <a:endParaRPr lang="en-US" sz="3200" dirty="0">
              <a:latin typeface="Calibri"/>
              <a:cs typeface="Calibri"/>
            </a:endParaRPr>
          </a:p>
          <a:p>
            <a:r>
              <a:rPr lang="en-US" b="1" dirty="0"/>
              <a:t>Data gathering by using web scraping (uncleaned dataset)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14505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7BC3FF-2B55-82A1-9AB1-216E46BAB9A8}"/>
              </a:ext>
            </a:extLst>
          </p:cNvPr>
          <p:cNvSpPr txBox="1"/>
          <p:nvPr/>
        </p:nvSpPr>
        <p:spPr>
          <a:xfrm>
            <a:off x="762000" y="685800"/>
            <a:ext cx="594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cleaned dataset</a:t>
            </a:r>
            <a:endParaRPr lang="en-IN" b="1" dirty="0"/>
          </a:p>
          <a:p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8B223F-0A04-FD49-DC40-4E1EFE2C6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43001"/>
            <a:ext cx="10515600" cy="5029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8169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E71D05-6047-EE3F-AFAF-693F0A131710}"/>
              </a:ext>
            </a:extLst>
          </p:cNvPr>
          <p:cNvSpPr txBox="1"/>
          <p:nvPr/>
        </p:nvSpPr>
        <p:spPr>
          <a:xfrm>
            <a:off x="457200" y="381000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Basic Checks</a:t>
            </a:r>
            <a:endParaRPr lang="en-IN" b="1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4B0D0D-C87A-75DC-8FBE-D1E2600C7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38201"/>
            <a:ext cx="4876800" cy="5334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D7593E-4FD6-BC7A-A2DA-C536076D1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838200"/>
            <a:ext cx="5864087" cy="5334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05337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B25AC9-36D5-D48F-164F-9567F3A78F44}"/>
              </a:ext>
            </a:extLst>
          </p:cNvPr>
          <p:cNvSpPr txBox="1"/>
          <p:nvPr/>
        </p:nvSpPr>
        <p:spPr>
          <a:xfrm>
            <a:off x="685800" y="381000"/>
            <a:ext cx="601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Data Visualization – Non visual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90A0CB-757E-9E1F-9E51-0FAE799C4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981200"/>
            <a:ext cx="2915014" cy="2057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0C10F7-911E-6771-F106-6B29D9716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1143000"/>
            <a:ext cx="2791215" cy="34294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9136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A0FB31D0-9B74-63CD-CCA7-9B11310C6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25" y="2209630"/>
            <a:ext cx="8230749" cy="24387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93991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different colored rectangular shapes&#10;&#10;AI-generated content may be incorrect.">
            <a:extLst>
              <a:ext uri="{FF2B5EF4-FFF2-40B4-BE49-F238E27FC236}">
                <a16:creationId xmlns:a16="http://schemas.microsoft.com/office/drawing/2014/main" id="{0EC46A86-E40C-99AB-CDE0-4065E720A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38200"/>
            <a:ext cx="8478433" cy="45339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0495E7-B6DB-5986-7E35-4F93659EFBBE}"/>
              </a:ext>
            </a:extLst>
          </p:cNvPr>
          <p:cNvSpPr txBox="1"/>
          <p:nvPr/>
        </p:nvSpPr>
        <p:spPr>
          <a:xfrm>
            <a:off x="838200" y="3810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Visualization – Visual analysis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EEBC2A-DBE2-13C7-F06A-AB59A121E540}"/>
              </a:ext>
            </a:extLst>
          </p:cNvPr>
          <p:cNvSpPr txBox="1"/>
          <p:nvPr/>
        </p:nvSpPr>
        <p:spPr>
          <a:xfrm>
            <a:off x="838200" y="5562600"/>
            <a:ext cx="838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Maruti Baleno and Maruti Swift dominate the dataset, indicating high availability.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8798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a car distribution&#10;&#10;AI-generated content may be incorrect.">
            <a:extLst>
              <a:ext uri="{FF2B5EF4-FFF2-40B4-BE49-F238E27FC236}">
                <a16:creationId xmlns:a16="http://schemas.microsoft.com/office/drawing/2014/main" id="{8AEFC4EC-48DD-9BD3-69AF-8E007F264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09600"/>
            <a:ext cx="8572500" cy="4572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7F6786-A954-6843-F71E-B690D58B6568}"/>
              </a:ext>
            </a:extLst>
          </p:cNvPr>
          <p:cNvSpPr txBox="1"/>
          <p:nvPr/>
        </p:nvSpPr>
        <p:spPr>
          <a:xfrm>
            <a:off x="838200" y="5410200"/>
            <a:ext cx="8572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Cars with 50,001–60,000 km traveled are the most common, suggesting a sweet spot for resale mileage.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6098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fuel type distribution&#10;&#10;AI-generated content may be incorrect.">
            <a:extLst>
              <a:ext uri="{FF2B5EF4-FFF2-40B4-BE49-F238E27FC236}">
                <a16:creationId xmlns:a16="http://schemas.microsoft.com/office/drawing/2014/main" id="{35F3E563-7349-6B38-E165-D43A28086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85800"/>
            <a:ext cx="5287113" cy="37343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 descr="A blue pie chart with text&#10;&#10;AI-generated content may be incorrect.">
            <a:extLst>
              <a:ext uri="{FF2B5EF4-FFF2-40B4-BE49-F238E27FC236}">
                <a16:creationId xmlns:a16="http://schemas.microsoft.com/office/drawing/2014/main" id="{1299A57A-8981-D882-01A8-A1EAA8073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289" y="659296"/>
            <a:ext cx="4643653" cy="37608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6102E9-880A-D255-9101-445DB78CA43E}"/>
              </a:ext>
            </a:extLst>
          </p:cNvPr>
          <p:cNvSpPr txBox="1"/>
          <p:nvPr/>
        </p:nvSpPr>
        <p:spPr>
          <a:xfrm>
            <a:off x="609600" y="4648200"/>
            <a:ext cx="48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Most all are petrol type vehicles only.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C4CA32-1920-45E3-987C-ADB2DE3DEB61}"/>
              </a:ext>
            </a:extLst>
          </p:cNvPr>
          <p:cNvSpPr txBox="1"/>
          <p:nvPr/>
        </p:nvSpPr>
        <p:spPr>
          <a:xfrm>
            <a:off x="6295289" y="4648200"/>
            <a:ext cx="3763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80.2% are of manual type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4948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with a line and a dotted line&#10;&#10;AI-generated content may be incorrect.">
            <a:extLst>
              <a:ext uri="{FF2B5EF4-FFF2-40B4-BE49-F238E27FC236}">
                <a16:creationId xmlns:a16="http://schemas.microsoft.com/office/drawing/2014/main" id="{95953A57-ED21-C865-C26E-67E40AAAF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57201"/>
            <a:ext cx="8564170" cy="4724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E270F0-33C7-9EDC-2064-C4EC0E49EE93}"/>
              </a:ext>
            </a:extLst>
          </p:cNvPr>
          <p:cNvSpPr txBox="1"/>
          <p:nvPr/>
        </p:nvSpPr>
        <p:spPr>
          <a:xfrm>
            <a:off x="1219200" y="5486400"/>
            <a:ext cx="8487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Vehicles which was manufactured in the year 2019 are more and we observe latest model of car are not available.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2911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7AEA3A-C6B6-1C43-5381-A83D71968A7E}"/>
              </a:ext>
            </a:extLst>
          </p:cNvPr>
          <p:cNvSpPr txBox="1"/>
          <p:nvPr/>
        </p:nvSpPr>
        <p:spPr>
          <a:xfrm>
            <a:off x="1143000" y="5638800"/>
            <a:ext cx="701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Vehicle with petrol fuel type  and manual type has highest amount of discount.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510451-BBD8-4D4F-405E-9E624ED58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66003"/>
            <a:ext cx="6258798" cy="47917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76510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3C0215-C58D-4A67-FA1E-B379F633F17D}"/>
              </a:ext>
            </a:extLst>
          </p:cNvPr>
          <p:cNvSpPr txBox="1"/>
          <p:nvPr/>
        </p:nvSpPr>
        <p:spPr>
          <a:xfrm>
            <a:off x="990600" y="5486400"/>
            <a:ext cx="655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Irrespective of the price and distance travelled of the vehicles, the average final price is 6,34,440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3697A2-4D81-096F-BB23-512FEF49C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990599"/>
            <a:ext cx="6697010" cy="44924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30967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05913-C08D-0B0D-24A5-C6350F1BC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6" y="228600"/>
            <a:ext cx="11388089" cy="685799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Conclusion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10195-40FB-BB35-356D-CAE5A8D92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550" y="1143000"/>
            <a:ext cx="10761662" cy="184665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Maruti Baleno has most available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Manual Vehicle Types has highest availability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No latest model of car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No accurate final price with respective distance travelled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Almost 25% of cars from 2019 model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59215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537F268-927A-DC4E-0839-D8B472CB0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562" y="914400"/>
            <a:ext cx="7348876" cy="49053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906</TotalTime>
  <Words>317</Words>
  <Application>Microsoft Office PowerPoint</Application>
  <PresentationFormat>Widescreen</PresentationFormat>
  <Paragraphs>39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Times New Roman</vt:lpstr>
      <vt:lpstr>Wingdings</vt:lpstr>
      <vt:lpstr>Office Theme</vt:lpstr>
      <vt:lpstr>PowerPoint Presentation</vt:lpstr>
      <vt:lpstr>Agenda (This should be the PPT flow)</vt:lpstr>
      <vt:lpstr>Objective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kaif</dc:creator>
  <cp:lastModifiedBy>Abdul Kaif</cp:lastModifiedBy>
  <cp:revision>10</cp:revision>
  <dcterms:created xsi:type="dcterms:W3CDTF">2025-12-02T06:39:36Z</dcterms:created>
  <dcterms:modified xsi:type="dcterms:W3CDTF">2025-12-17T10:53:35Z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2025-11-24T00:00:00Z</vt:filetime>
  </property>
  <property fmtid="{D5CDD505-2E9C-101B-9397-08002B2CF9AE}" pid="3" name="LastSaved">
    <vt:filetime>2025-12-02T00:00:00Z</vt:filetime>
  </property>
</Properties>
</file>